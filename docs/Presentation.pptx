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0"/>
            <a:ext cx="32004" cy="6858000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8432F"/>
                </a:solidFill>
                <a:latin typeface="Consolas"/>
              </a:rPr>
              <a:t>PROJET DE FIN DE MODULE — JEE / SPRING BOOT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Georgia"/>
              </a:rPr>
              <a:t>EChallenge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3CBDD"/>
                </a:solidFill>
                <a:latin typeface="Calibri"/>
              </a:rPr>
              <a:t>Plateforme d'examens en ligne — inscription, passage chronométré, notation automatique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3CBDD"/>
                </a:solidFill>
                <a:latin typeface="Calibri"/>
              </a:rPr>
              <a:t>Mehdi Aichouch  ·  07/2026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0"/>
            <a:ext cx="32004" cy="6858000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926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8432F"/>
                </a:solidFill>
                <a:latin typeface="Consolas"/>
              </a:rPr>
              <a:t>POURQUOI CE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6213A"/>
                </a:solidFill>
                <a:latin typeface="Georgia"/>
              </a:rPr>
              <a:t>Contexte et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07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6213A"/>
                </a:solidFill>
              </a:rPr>
              <a:t>•  Problème — </a:t>
            </a:r>
            <a:r>
              <a:rPr sz="1600">
                <a:solidFill>
                  <a:srgbClr val="16213A"/>
                </a:solidFill>
              </a:rPr>
              <a:t>examens papier lourds à organiser : convocations, surveillance, correction manuelle.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6213A"/>
                </a:solidFill>
              </a:rPr>
              <a:t>•  Réponse — </a:t>
            </a:r>
            <a:r>
              <a:rPr sz="1600">
                <a:solidFill>
                  <a:srgbClr val="16213A"/>
                </a:solidFill>
              </a:rPr>
              <a:t>une plateforme web qui couvre tout le cycle : référentiel, créneaux, passage, notation.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6213A"/>
                </a:solidFill>
              </a:rPr>
              <a:t>•  Deux profils — </a:t>
            </a:r>
            <a:r>
              <a:rPr sz="1600">
                <a:solidFill>
                  <a:srgbClr val="16213A"/>
                </a:solidFill>
              </a:rPr>
              <a:t>Administrateur (gestion) et Candidat (inscription, examen, résultats).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6213A"/>
                </a:solidFill>
              </a:rPr>
              <a:t>•  Cadre pédagogique — </a:t>
            </a:r>
            <a:r>
              <a:rPr sz="1600">
                <a:solidFill>
                  <a:srgbClr val="16213A"/>
                </a:solidFill>
              </a:rPr>
              <a:t>architecture en couches, UML, Spring Boot, Spring Data, Spring Security.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920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D8432F"/>
                </a:solidFill>
                <a:latin typeface="Georgia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8707F"/>
                </a:solidFill>
                <a:latin typeface="Calibri"/>
              </a:rPr>
              <a:t>entités JPA en relation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657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D8432F"/>
                </a:solidFill>
                <a:latin typeface="Georgia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526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8707F"/>
                </a:solidFill>
                <a:latin typeface="Calibri"/>
              </a:rPr>
              <a:t>services métier (interface + impl)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3949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D8432F"/>
                </a:solidFill>
                <a:latin typeface="Georgia"/>
              </a:rPr>
              <a:t>50 %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263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8707F"/>
                </a:solidFill>
                <a:latin typeface="Calibri"/>
              </a:rPr>
              <a:t>seuil de réussite automatique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0"/>
            <a:ext cx="32004" cy="6858000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926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8432F"/>
                </a:solidFill>
                <a:latin typeface="Consolas"/>
              </a:rPr>
              <a:t>CONCEPTION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6213A"/>
                </a:solidFill>
                <a:latin typeface="Georgia"/>
              </a:rPr>
              <a:t>Architecture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07F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481328"/>
            <a:ext cx="71120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0"/>
            <a:ext cx="32004" cy="6858000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926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8432F"/>
                </a:solidFill>
                <a:latin typeface="Consolas"/>
              </a:rPr>
              <a:t>CONCEPTION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6213A"/>
                </a:solidFill>
                <a:latin typeface="Georgia"/>
              </a:rPr>
              <a:t>Diagramme de classes — entités du domaine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07F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ent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481328"/>
            <a:ext cx="6629542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0"/>
            <a:ext cx="32004" cy="6858000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926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8432F"/>
                </a:solidFill>
                <a:latin typeface="Consolas"/>
              </a:rPr>
              <a:t>RÉALISATION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6213A"/>
                </a:solidFill>
                <a:latin typeface="Georgia"/>
              </a:rPr>
              <a:t>Sécurisation — Spring Security + JWT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07F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1783080"/>
            <a:ext cx="502920" cy="502920"/>
          </a:xfrm>
          <a:prstGeom prst="ellipse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7556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213A"/>
                </a:solidFill>
                <a:latin typeface="Georgia"/>
              </a:rPr>
              <a:t>Connexion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01368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213A"/>
                </a:solidFill>
                <a:latin typeface="Calibri"/>
              </a:rPr>
              <a:t>login / mot de passe — hachage BCrypt vérifié en base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2926080"/>
            <a:ext cx="502920" cy="502920"/>
          </a:xfrm>
          <a:prstGeom prst="ellipse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8986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213A"/>
                </a:solidFill>
                <a:latin typeface="Georgia"/>
              </a:rPr>
              <a:t>Jeton JWT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944368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213A"/>
                </a:solidFill>
                <a:latin typeface="Calibri"/>
              </a:rPr>
              <a:t>signé HS256, contient email, rôle et identifiant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4069080"/>
            <a:ext cx="502920" cy="502920"/>
          </a:xfrm>
          <a:prstGeom prst="ellipse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0416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213A"/>
                </a:solidFill>
                <a:latin typeface="Georgia"/>
              </a:rPr>
              <a:t>Filtre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087368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213A"/>
                </a:solidFill>
                <a:latin typeface="Calibri"/>
              </a:rPr>
              <a:t>JwtAuthFilter valide « Authorization: Bearer » à chaque requête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5212080"/>
            <a:ext cx="502920" cy="502920"/>
          </a:xfrm>
          <a:prstGeom prst="ellipse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51846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213A"/>
                </a:solidFill>
                <a:latin typeface="Georgia"/>
              </a:rPr>
              <a:t>Autorisations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230368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213A"/>
                </a:solidFill>
                <a:latin typeface="Calibri"/>
              </a:rPr>
              <a:t>/api/admin/** → ADMIN · /api/candidate/** → CANDIDATE · /api/auth/** public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64008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8707F"/>
                </a:solidFill>
                <a:latin typeface="Calibri"/>
              </a:rPr>
              <a:t>Un candidat ne peut démarrer, soumettre ou consulter que ses propres sessions.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0"/>
            <a:ext cx="32004" cy="6858000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926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8432F"/>
                </a:solidFill>
                <a:latin typeface="Consolas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6213A"/>
                </a:solidFill>
                <a:latin typeface="Georgia"/>
              </a:rPr>
              <a:t>Accueil et connexion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07F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5440680" cy="3400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263640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07F"/>
                </a:solidFill>
                <a:latin typeface="Calibri"/>
              </a:rPr>
              <a:t>Catalogue public des tests</a:t>
            </a:r>
          </a:p>
        </p:txBody>
      </p:sp>
      <p:pic>
        <p:nvPicPr>
          <p:cNvPr id="8" name="Picture 7" descr="12-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572768"/>
            <a:ext cx="5440680" cy="34004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6263640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07F"/>
                </a:solidFill>
                <a:latin typeface="Calibri"/>
              </a:rPr>
              <a:t>Connexion pré-remplie (comptes démo)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0"/>
            <a:ext cx="32004" cy="6858000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926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8432F"/>
                </a:solidFill>
                <a:latin typeface="Consolas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6213A"/>
                </a:solidFill>
                <a:latin typeface="Georgia"/>
              </a:rPr>
              <a:t>Espace administrateur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07F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04-admin-qu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5440680" cy="3400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263640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07F"/>
                </a:solidFill>
                <a:latin typeface="Calibri"/>
              </a:rPr>
              <a:t>Gestion des questions et options</a:t>
            </a:r>
          </a:p>
        </p:txBody>
      </p:sp>
      <p:pic>
        <p:nvPicPr>
          <p:cNvPr id="8" name="Picture 7" descr="11-admin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572768"/>
            <a:ext cx="5440680" cy="34004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6263640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07F"/>
                </a:solidFill>
                <a:latin typeface="Calibri"/>
              </a:rPr>
              <a:t>Tous les résultats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0"/>
            <a:ext cx="32004" cy="6858000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926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8432F"/>
                </a:solidFill>
                <a:latin typeface="Consolas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6213A"/>
                </a:solidFill>
                <a:latin typeface="Georgia"/>
              </a:rPr>
              <a:t>Passage d'un examen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07F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06-take-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5440680" cy="3400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263640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07F"/>
                </a:solidFill>
                <a:latin typeface="Calibri"/>
              </a:rPr>
              <a:t>Examen chronométré, questions aléatoires</a:t>
            </a:r>
          </a:p>
        </p:txBody>
      </p:sp>
      <p:pic>
        <p:nvPicPr>
          <p:cNvPr id="8" name="Picture 7" descr="07-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572768"/>
            <a:ext cx="5440680" cy="34004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6263640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07F"/>
                </a:solidFill>
                <a:latin typeface="Calibri"/>
              </a:rPr>
              <a:t>Copie rendue : score immédiat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0"/>
            <a:ext cx="32004" cy="6858000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8432F"/>
                </a:solidFill>
                <a:latin typeface="Consola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Georgia"/>
              </a:rPr>
              <a:t>Un cycle d'examen couvert de bout en 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C3CBDD"/>
                </a:solidFill>
              </a:rPr>
              <a:t>✓  Architecture en couches conforme aux exigences du module — web, métier (interfaces + impl), DAO, sécurité transversale.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3CBDD"/>
                </a:solidFill>
              </a:rPr>
              <a:t>✓  Stack moderne : Spring Boot 3.5, Spring Data JPA, Spring Security 6 + JWT, React 19.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3CBDD"/>
                </a:solidFill>
              </a:rPr>
              <a:t>✓  CRUD complet sur 11 entités, règles métier protégées, notation automatique vérifiée.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3CBDD"/>
                </a:solidFill>
              </a:rPr>
              <a:t>✓  Perspectives : notifications e-mail, nouveaux types de questions, statistiques, déploiement cloud.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Code source : github.com/mehdiaichouch2002/echallenge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3CBD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